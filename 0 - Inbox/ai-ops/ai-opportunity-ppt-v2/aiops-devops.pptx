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10"/>
    <p:restoredTop sz="94610"/>
  </p:normalViewPr>
  <p:slideViewPr>
    <p:cSldViewPr snapToGrid="0" snapToObjects="1">
      <p:cViewPr>
        <p:scale>
          <a:sx n="103" d="100"/>
          <a:sy n="103" d="100"/>
        </p:scale>
        <p:origin x="1544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 Lu （卢瑞）" userId="3bbf6518-39d7-4ccd-9938-d3b6a3ca76a1" providerId="ADAL" clId="{23FDB5CF-0FC2-5F7E-A41C-CCC1FF91A4A0}"/>
    <pc:docChg chg="undo redo custSel mod modSld modMainMaster">
      <pc:chgData name="Vin Lu （卢瑞）" userId="3bbf6518-39d7-4ccd-9938-d3b6a3ca76a1" providerId="ADAL" clId="{23FDB5CF-0FC2-5F7E-A41C-CCC1FF91A4A0}" dt="2026-05-11T03:44:10.360" v="278" actId="478"/>
      <pc:docMkLst>
        <pc:docMk/>
      </pc:docMkLst>
      <pc:sldChg chg="modSp mod">
        <pc:chgData name="Vin Lu （卢瑞）" userId="3bbf6518-39d7-4ccd-9938-d3b6a3ca76a1" providerId="ADAL" clId="{23FDB5CF-0FC2-5F7E-A41C-CCC1FF91A4A0}" dt="2026-05-07T06:40:09.353" v="213" actId="20577"/>
        <pc:sldMkLst>
          <pc:docMk/>
          <pc:sldMk cId="0" sldId="257"/>
        </pc:sldMkLst>
        <pc:spChg chg="mod">
          <ac:chgData name="Vin Lu （卢瑞）" userId="3bbf6518-39d7-4ccd-9938-d3b6a3ca76a1" providerId="ADAL" clId="{23FDB5CF-0FC2-5F7E-A41C-CCC1FF91A4A0}" dt="2026-05-07T06:40:09.353" v="213" actId="20577"/>
          <ac:spMkLst>
            <pc:docMk/>
            <pc:sldMk cId="0" sldId="257"/>
            <ac:spMk id="23" creationId="{00000000-0000-0000-0000-000000000000}"/>
          </ac:spMkLst>
        </pc:spChg>
      </pc:sldChg>
      <pc:sldChg chg="delSp modSp mod">
        <pc:chgData name="Vin Lu （卢瑞）" userId="3bbf6518-39d7-4ccd-9938-d3b6a3ca76a1" providerId="ADAL" clId="{23FDB5CF-0FC2-5F7E-A41C-CCC1FF91A4A0}" dt="2026-05-11T03:44:00.980" v="274" actId="478"/>
        <pc:sldMkLst>
          <pc:docMk/>
          <pc:sldMk cId="0" sldId="260"/>
        </pc:sldMkLst>
        <pc:spChg chg="del">
          <ac:chgData name="Vin Lu （卢瑞）" userId="3bbf6518-39d7-4ccd-9938-d3b6a3ca76a1" providerId="ADAL" clId="{23FDB5CF-0FC2-5F7E-A41C-CCC1FF91A4A0}" dt="2026-05-11T03:43:55.875" v="271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Vin Lu （卢瑞）" userId="3bbf6518-39d7-4ccd-9938-d3b6a3ca76a1" providerId="ADAL" clId="{23FDB5CF-0FC2-5F7E-A41C-CCC1FF91A4A0}" dt="2026-05-11T03:43:57.600" v="272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Vin Lu （卢瑞）" userId="3bbf6518-39d7-4ccd-9938-d3b6a3ca76a1" providerId="ADAL" clId="{23FDB5CF-0FC2-5F7E-A41C-CCC1FF91A4A0}" dt="2026-05-11T03:43:58.881" v="273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Vin Lu （卢瑞）" userId="3bbf6518-39d7-4ccd-9938-d3b6a3ca76a1" providerId="ADAL" clId="{23FDB5CF-0FC2-5F7E-A41C-CCC1FF91A4A0}" dt="2026-05-11T03:44:00.980" v="274" actId="478"/>
          <ac:spMkLst>
            <pc:docMk/>
            <pc:sldMk cId="0" sldId="260"/>
            <ac:spMk id="5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7T07:53:21.217" v="222" actId="20577"/>
          <ac:spMkLst>
            <pc:docMk/>
            <pc:sldMk cId="0" sldId="260"/>
            <ac:spMk id="17" creationId="{00000000-0000-0000-0000-000000000000}"/>
          </ac:spMkLst>
        </pc:spChg>
      </pc:sldChg>
      <pc:sldChg chg="modSp mod">
        <pc:chgData name="Vin Lu （卢瑞）" userId="3bbf6518-39d7-4ccd-9938-d3b6a3ca76a1" providerId="ADAL" clId="{23FDB5CF-0FC2-5F7E-A41C-CCC1FF91A4A0}" dt="2026-05-08T02:11:11.444" v="270" actId="1035"/>
        <pc:sldMkLst>
          <pc:docMk/>
          <pc:sldMk cId="0" sldId="261"/>
        </pc:sldMkLst>
        <pc:spChg chg="mod">
          <ac:chgData name="Vin Lu （卢瑞）" userId="3bbf6518-39d7-4ccd-9938-d3b6a3ca76a1" providerId="ADAL" clId="{23FDB5CF-0FC2-5F7E-A41C-CCC1FF91A4A0}" dt="2026-05-08T02:10:37.833" v="226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7T06:43:11.528" v="214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7T06:07:31.669" v="2" actId="1410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8T02:10:57.462" v="245" actId="1035"/>
          <ac:spMkLst>
            <pc:docMk/>
            <pc:sldMk cId="0" sldId="261"/>
            <ac:spMk id="19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8T02:11:11.444" v="270" actId="1035"/>
          <ac:spMkLst>
            <pc:docMk/>
            <pc:sldMk cId="0" sldId="261"/>
            <ac:spMk id="20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8T02:11:11.444" v="270" actId="1035"/>
          <ac:spMkLst>
            <pc:docMk/>
            <pc:sldMk cId="0" sldId="261"/>
            <ac:spMk id="21" creationId="{00000000-0000-0000-0000-000000000000}"/>
          </ac:spMkLst>
        </pc:spChg>
      </pc:sldChg>
      <pc:sldChg chg="delSp modSp mod">
        <pc:chgData name="Vin Lu （卢瑞）" userId="3bbf6518-39d7-4ccd-9938-d3b6a3ca76a1" providerId="ADAL" clId="{23FDB5CF-0FC2-5F7E-A41C-CCC1FF91A4A0}" dt="2026-05-11T03:44:10.360" v="278" actId="478"/>
        <pc:sldMkLst>
          <pc:docMk/>
          <pc:sldMk cId="0" sldId="262"/>
        </pc:sldMkLst>
        <pc:spChg chg="del mod">
          <ac:chgData name="Vin Lu （卢瑞）" userId="3bbf6518-39d7-4ccd-9938-d3b6a3ca76a1" providerId="ADAL" clId="{23FDB5CF-0FC2-5F7E-A41C-CCC1FF91A4A0}" dt="2026-05-11T03:44:08.250" v="277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Vin Lu （卢瑞）" userId="3bbf6518-39d7-4ccd-9938-d3b6a3ca76a1" providerId="ADAL" clId="{23FDB5CF-0FC2-5F7E-A41C-CCC1FF91A4A0}" dt="2026-05-11T03:44:06.191" v="275" actId="478"/>
          <ac:spMkLst>
            <pc:docMk/>
            <pc:sldMk cId="0" sldId="262"/>
            <ac:spMk id="3" creationId="{00000000-0000-0000-0000-000000000000}"/>
          </ac:spMkLst>
        </pc:spChg>
        <pc:spChg chg="del">
          <ac:chgData name="Vin Lu （卢瑞）" userId="3bbf6518-39d7-4ccd-9938-d3b6a3ca76a1" providerId="ADAL" clId="{23FDB5CF-0FC2-5F7E-A41C-CCC1FF91A4A0}" dt="2026-05-11T03:44:07.542" v="276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Vin Lu （卢瑞）" userId="3bbf6518-39d7-4ccd-9938-d3b6a3ca76a1" providerId="ADAL" clId="{23FDB5CF-0FC2-5F7E-A41C-CCC1FF91A4A0}" dt="2026-05-11T03:44:10.360" v="278" actId="478"/>
          <ac:spMkLst>
            <pc:docMk/>
            <pc:sldMk cId="0" sldId="262"/>
            <ac:spMk id="5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7T07:05:39.984" v="221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7T06:50:19.801" v="220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7T06:09:07.161" v="13" actId="14100"/>
          <ac:spMkLst>
            <pc:docMk/>
            <pc:sldMk cId="0" sldId="262"/>
            <ac:spMk id="20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7T06:11:56.078" v="146" actId="14100"/>
          <ac:spMkLst>
            <pc:docMk/>
            <pc:sldMk cId="0" sldId="262"/>
            <ac:spMk id="21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7T06:11:51.564" v="145" actId="14100"/>
          <ac:spMkLst>
            <pc:docMk/>
            <pc:sldMk cId="0" sldId="262"/>
            <ac:spMk id="22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7T06:12:19.363" v="168" actId="103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7T06:12:19.363" v="168" actId="103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7T06:12:29.491" v="180" actId="1037"/>
          <ac:spMkLst>
            <pc:docMk/>
            <pc:sldMk cId="0" sldId="262"/>
            <ac:spMk id="25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7T06:12:29.491" v="180" actId="1037"/>
          <ac:spMkLst>
            <pc:docMk/>
            <pc:sldMk cId="0" sldId="262"/>
            <ac:spMk id="26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7T06:13:10.899" v="198" actId="1035"/>
          <ac:spMkLst>
            <pc:docMk/>
            <pc:sldMk cId="0" sldId="262"/>
            <ac:spMk id="27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7T06:13:10.899" v="198" actId="1035"/>
          <ac:spMkLst>
            <pc:docMk/>
            <pc:sldMk cId="0" sldId="262"/>
            <ac:spMk id="28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7T06:13:21.083" v="210" actId="1035"/>
          <ac:spMkLst>
            <pc:docMk/>
            <pc:sldMk cId="0" sldId="262"/>
            <ac:spMk id="29" creationId="{00000000-0000-0000-0000-000000000000}"/>
          </ac:spMkLst>
        </pc:spChg>
        <pc:spChg chg="mod">
          <ac:chgData name="Vin Lu （卢瑞）" userId="3bbf6518-39d7-4ccd-9938-d3b6a3ca76a1" providerId="ADAL" clId="{23FDB5CF-0FC2-5F7E-A41C-CCC1FF91A4A0}" dt="2026-05-07T06:13:21.083" v="210" actId="1035"/>
          <ac:spMkLst>
            <pc:docMk/>
            <pc:sldMk cId="0" sldId="262"/>
            <ac:spMk id="30" creationId="{00000000-0000-0000-0000-000000000000}"/>
          </ac:spMkLst>
        </pc:spChg>
      </pc:sldChg>
      <pc:sldMasterChg chg="addSp mod">
        <pc:chgData name="Vin Lu （卢瑞）" userId="3bbf6518-39d7-4ccd-9938-d3b6a3ca76a1" providerId="ADAL" clId="{23FDB5CF-0FC2-5F7E-A41C-CCC1FF91A4A0}" dt="2026-05-07T06:07:23.994" v="0" actId="33475"/>
        <pc:sldMasterMkLst>
          <pc:docMk/>
          <pc:sldMasterMk cId="0" sldId="2147483648"/>
        </pc:sldMasterMkLst>
        <pc:spChg chg="add">
          <ac:chgData name="Vin Lu （卢瑞）" userId="3bbf6518-39d7-4ccd-9938-d3b6a3ca76a1" providerId="ADAL" clId="{23FDB5CF-0FC2-5F7E-A41C-CCC1FF91A4A0}" dt="2026-05-07T06:07:23.994" v="0" actId="33475"/>
          <ac:spMkLst>
            <pc:docMk/>
            <pc:sldMasterMk cId="0" sldId="2147483648"/>
            <ac:spMk id="3" creationId="{B7BC0EAD-4FD0-7E2F-89F9-ECFFD062B9E1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445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
— Frame this as a decision deck, not a research readout.
— The ask is formal sponsorship and phased resourcing.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strain
— These figures are internal signals, not market benchmarking.
— The point is that operating complexity is already ahead of the current manual model.
— Confirm the final counting logic behind the "~400 services" figure before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judgment
— The core claim is that more people alone will not fix the operating model.
— We need AI-assisted, governed leverage in the delivery and incident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proof
— Emphasize that both examples are already running with low-cost implementation paths.
— Pipeline AI L1 proves faster first-level diagnosis.
— miniops proves release orchestration can move from repetitive manual coordination to a single controlled entry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Strategic tracks
— UC1 is the near-term wedge because value is closest to production reality.
— UC2 and UC3 reuse the same agent and service context foundation.
— Do not let the room interpret this as three equal workstreams starting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ROI expectations
— Two columns: human efficiency (MTTR) on the left, FinOps cost saving on the right.
— The xx placeholders for monthly incident count and average resolution time need real numbers before the meeting — expect VP to ask.
— For FinOps: the 100K → 1M+ framing is the key argument. Make clear that 100K came from one manual pass on one resource type; 1M+ is what systematic AI coverage of Redis / Kafka / deployment requests can unlock.
— The anchor line at the bottom is the mic-drop: one manual review finds one dimension, AI finds all of them continuously.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
— Say this explicitly: AI can recommend, but production action remains human-approved.
— Keep the main slide principle-led.
— Use Appendix C if the room wants architecture and security-governance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
— Foundation first. Do not let the conversation drift into all-three-tracks-at-once staffing.
— Q2 is the critical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 ask
— This is a staged ask, not an open-ended platform budget.
— Appendix A has role-level detail if requested.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Decisions
— End on decisions, not on a summary.
— The meeting should leave with a sponsor signal and a priority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A
— Use only if the room asks how 3.5 FTE and 2.5 FTE are allocated.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B
— Risks are here to show control, not to dilute the proposal.
— Keep mitigation phrasing practical and owned.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C
— This appendix carries the detailed architecture and governance follow-through so the main governance slide can stay clean.
— Shared agent layer and human gate placement are intentionally shown here at a higher level only.
— Blueprint link for deeper implementation detail: https://manulife-asia.atlassian.net/wiki/spaces/HKDO/pages/1648525895/AIOps+blueprints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
— Reinforce that the platform direction already exists informally; approval makes it governable and 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BC0EAD-4FD0-7E2F-89F9-ECFFD062B9E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47337" y="4958080"/>
            <a:ext cx="4699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N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583561" cy="8885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83561" y="0"/>
            <a:ext cx="2560290" cy="88850"/>
          </a:xfrm>
          <a:prstGeom prst="rect">
            <a:avLst/>
          </a:prstGeom>
          <a:solidFill>
            <a:srgbClr val="06C7B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81000"/>
            <a:ext cx="25692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MANULIFE HK · DEVOPS &amp;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53140" y="381000"/>
            <a:ext cx="160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400" y="1714798"/>
            <a:ext cx="50142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6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EXECUTIVE PROPOSAL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3400" y="1981498"/>
            <a:ext cx="5014261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36"/>
              </a:lnSpc>
              <a:buNone/>
            </a:pPr>
            <a:r>
              <a:rPr lang="en-US" sz="2800" b="1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AIOps Platform Proposal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3400" y="2532013"/>
            <a:ext cx="4663440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Move from people-heavy firefighting to governed, AI-assisted operations.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3400" y="2905274"/>
            <a:ext cx="3708350" cy="891480"/>
          </a:xfrm>
          <a:prstGeom prst="rect">
            <a:avLst/>
          </a:prstGeom>
          <a:solidFill>
            <a:srgbClr val="EEF3F9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5325" y="3067199"/>
            <a:ext cx="3452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06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THIS MEETING DECIDES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95325" y="3248174"/>
            <a:ext cx="345219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1) Formalize AIOps as an internal program. 2) Confirm Q2/Q3 execution priority and headcount support.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47596" y="4638675"/>
            <a:ext cx="4722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May 2026</a:t>
            </a:r>
            <a:endParaRPr lang="en-US" sz="700" dirty="0"/>
          </a:p>
        </p:txBody>
      </p:sp>
      <p:pic>
        <p:nvPicPr>
          <p:cNvPr id="14" name="Image 0" descr="/Users/luruilr/Library/CloudStorage/OneDrive-Manulife/Obsidian/Main/0 - Inbox/ai-ops/aiops-visual-deck-manulife/assets/manu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95986"/>
            <a:ext cx="634901" cy="2460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583561" cy="8885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83561" y="0"/>
            <a:ext cx="2560290" cy="88850"/>
          </a:xfrm>
          <a:prstGeom prst="rect">
            <a:avLst/>
          </a:prstGeom>
          <a:solidFill>
            <a:srgbClr val="06C7B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81000"/>
            <a:ext cx="10775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STATE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53140" y="381000"/>
            <a:ext cx="160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400" y="673001"/>
            <a:ext cx="8238744" cy="329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The operating model is already under strain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400" y="1104007"/>
            <a:ext cx="7254139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Internal signals show a concentration of operational friction. The issue is not isolated inefficiency; it is a scaling limit in how work gets deployed, investigated, and coordinated.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3400" y="1723430"/>
            <a:ext cx="3962400" cy="1219200"/>
          </a:xfrm>
          <a:prstGeom prst="rect">
            <a:avLst/>
          </a:prstGeom>
          <a:solidFill>
            <a:srgbClr val="F7F9FC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5325" y="1885355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SURVEY BASE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95325" y="1990130"/>
            <a:ext cx="37113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136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95325" y="2587377"/>
            <a:ext cx="371132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Internal respondents from the HK DevOps &amp; Platform team.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48200" y="1723430"/>
            <a:ext cx="3962400" cy="1219200"/>
          </a:xfrm>
          <a:prstGeom prst="rect">
            <a:avLst/>
          </a:prstGeom>
          <a:solidFill>
            <a:srgbClr val="F7F9FC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0125" y="1885355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 / DEPLOYMENT FRICTION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10125" y="1990130"/>
            <a:ext cx="37113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dirty="0">
                <a:solidFill>
                  <a:srgbClr val="EC6453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118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10125" y="2587377"/>
            <a:ext cx="371132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Most frequently raised pain point across the survey.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3400" y="3095030"/>
            <a:ext cx="3962400" cy="1219200"/>
          </a:xfrm>
          <a:prstGeom prst="rect">
            <a:avLst/>
          </a:prstGeom>
          <a:solidFill>
            <a:srgbClr val="F7F9FC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5325" y="3256955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 INCIDENT PAIN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95325" y="3361730"/>
            <a:ext cx="37113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dirty="0">
                <a:solidFill>
                  <a:srgbClr val="F4960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83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5325" y="3958977"/>
            <a:ext cx="371132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A recurring operational drain; 54% voted it the hardest tool to use.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48200" y="3095030"/>
            <a:ext cx="3962400" cy="1219200"/>
          </a:xfrm>
          <a:prstGeom prst="rect">
            <a:avLst/>
          </a:prstGeom>
          <a:solidFill>
            <a:srgbClr val="F3FBFA"/>
          </a:solidFill>
          <a:ln w="9525">
            <a:solidFill>
              <a:srgbClr val="06C7B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0125" y="3256955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FOOTPRINT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810125" y="3361730"/>
            <a:ext cx="37113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dirty="0">
                <a:solidFill>
                  <a:srgbClr val="06C7BA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~500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810125" y="3765649"/>
            <a:ext cx="371132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Services already sit under the HK Marketing estate while manual intervention remains high.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3400" y="4415730"/>
            <a:ext cx="8077200" cy="415379"/>
          </a:xfrm>
          <a:prstGeom prst="rect">
            <a:avLst/>
          </a:prstGeom>
          <a:solidFill>
            <a:srgbClr val="FBFCFE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95325" y="4526756"/>
            <a:ext cx="7908417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Executive reading:</a:t>
            </a: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 service scale keeps growing, but the operating model still depends on human coordination and reactive firefighting.</a:t>
            </a:r>
            <a:endParaRPr lang="en-US" sz="1050" dirty="0"/>
          </a:p>
        </p:txBody>
      </p:sp>
      <p:pic>
        <p:nvPicPr>
          <p:cNvPr id="27" name="Image 0" descr="/Users/luruilr/Library/CloudStorage/OneDrive-Manulife/Obsidian/Main/0 - Inbox/ai-ops/aiops-visual-deck-manulife/assets/manu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95986"/>
            <a:ext cx="634901" cy="2460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/Users/luruilr/Library/CloudStorage/OneDrive-Manulife/Obsidian/Main/0 - Inbox/ai-ops/aiops-visual-deck-manulife/assets/core-judgment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0"/>
            <a:ext cx="6583561" cy="8885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83561" y="0"/>
            <a:ext cx="2560290" cy="88850"/>
          </a:xfrm>
          <a:prstGeom prst="rect">
            <a:avLst/>
          </a:prstGeom>
          <a:solidFill>
            <a:srgbClr val="06C7B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381000"/>
            <a:ext cx="10775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8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JUDGMENT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53140" y="381000"/>
            <a:ext cx="160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8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459665" y="1871663"/>
            <a:ext cx="22467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FFFFFF">
                    <a:alpha val="92000"/>
                  </a:srgbClr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“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944931" y="2557463"/>
            <a:ext cx="7254139" cy="805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72"/>
              </a:lnSpc>
              <a:buNone/>
            </a:pPr>
            <a:r>
              <a:rPr lang="en-US" sz="2600" dirty="0">
                <a:solidFill>
                  <a:srgbClr val="F4960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Operations scale has outgrown what headcount alone can cover.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445672" y="3540919"/>
            <a:ext cx="425265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1400"/>
              </a:spcBef>
              <a:buNone/>
            </a:pPr>
            <a:r>
              <a:rPr lang="en-US" sz="1200" dirty="0">
                <a:solidFill>
                  <a:srgbClr val="002060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Our answer is AIOps: AI-assisted, proactive, and governed DevOps.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95400" y="4952851"/>
            <a:ext cx="40351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>
                    <a:alpha val="82000"/>
                  </a:srgbClr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This is not a concept pitch; it is a formalization ask for a direction already in motion.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958733" y="4952851"/>
            <a:ext cx="6649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FFFFF">
                    <a:alpha val="82000"/>
                  </a:srgbClr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Decision slide</a:t>
            </a:r>
            <a:endParaRPr lang="en-US" sz="700" dirty="0"/>
          </a:p>
        </p:txBody>
      </p:sp>
      <p:pic>
        <p:nvPicPr>
          <p:cNvPr id="13" name="Image 1" descr="/Users/luruilr/Library/CloudStorage/OneDrive-Manulife/Obsidian/Main/0 - Inbox/ai-ops/aiops-visual-deck-manulife/assets/manulife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795986"/>
            <a:ext cx="634901" cy="2460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583561" cy="8885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83561" y="0"/>
            <a:ext cx="2560290" cy="88850"/>
          </a:xfrm>
          <a:prstGeom prst="rect">
            <a:avLst/>
          </a:prstGeom>
          <a:solidFill>
            <a:srgbClr val="06C7B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81000"/>
            <a:ext cx="828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PROOF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53140" y="381000"/>
            <a:ext cx="160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400" y="673001"/>
            <a:ext cx="8238744" cy="329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This direction is already producing working proof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400" y="1104007"/>
            <a:ext cx="647689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Two low-cost implementations have already validated the path.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3400" y="1502569"/>
            <a:ext cx="3936950" cy="2717750"/>
          </a:xfrm>
          <a:prstGeom prst="rect">
            <a:avLst/>
          </a:prstGeom>
          <a:solidFill>
            <a:srgbClr val="F7F9FC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5325" y="1664494"/>
            <a:ext cx="36853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06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PROOF 01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95325" y="1845469"/>
            <a:ext cx="368536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Pipeline AI L1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5325" y="2170361"/>
            <a:ext cx="3613100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Pipeline failure triggers RCA automatically.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Result is written back into Jenkins build description.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First-level diagnosis now lands in under 30 seconds.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5325" y="3347293"/>
            <a:ext cx="1755725" cy="711101"/>
          </a:xfrm>
          <a:prstGeom prst="rect">
            <a:avLst/>
          </a:prstGeom>
          <a:solidFill>
            <a:srgbClr val="FFFFFF">
              <a:alpha val="98000"/>
            </a:srgbClr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6351" y="3458319"/>
            <a:ext cx="15643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06351" y="3718768"/>
            <a:ext cx="1564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EC6453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15–60 min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52551" y="3347293"/>
            <a:ext cx="1755874" cy="711101"/>
          </a:xfrm>
          <a:prstGeom prst="rect">
            <a:avLst/>
          </a:prstGeom>
          <a:solidFill>
            <a:srgbClr val="FFFFFF">
              <a:alpha val="98000"/>
            </a:srgbClr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63577" y="3458319"/>
            <a:ext cx="15644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663577" y="3718768"/>
            <a:ext cx="15644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00A758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&lt; 30 sec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73501" y="1502569"/>
            <a:ext cx="3937099" cy="2717750"/>
          </a:xfrm>
          <a:prstGeom prst="rect">
            <a:avLst/>
          </a:prstGeom>
          <a:solidFill>
            <a:srgbClr val="F3FBFA"/>
          </a:solidFill>
          <a:ln w="9525">
            <a:solidFill>
              <a:srgbClr val="06C7B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35426" y="1664494"/>
            <a:ext cx="36855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06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PROOF 02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835426" y="1845469"/>
            <a:ext cx="3685514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miniops 1.0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35426" y="2170361"/>
            <a:ext cx="3613249" cy="909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Release flow is coordinated from one interface.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Multiple pipeline steps are no longer kicked off one by one.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The team is already using it to simplify day-to-day delivery work.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35426" y="3296841"/>
            <a:ext cx="1755874" cy="761554"/>
          </a:xfrm>
          <a:prstGeom prst="rect">
            <a:avLst/>
          </a:prstGeom>
          <a:solidFill>
            <a:srgbClr val="FFFFFF">
              <a:alpha val="98000"/>
            </a:srgbClr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46452" y="3407866"/>
            <a:ext cx="15644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946452" y="3563392"/>
            <a:ext cx="156449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Bef>
                <a:spcPts val="400"/>
              </a:spcBef>
              <a:buNone/>
            </a:pPr>
            <a:r>
              <a:rPr lang="en-US" sz="1350" dirty="0">
                <a:solidFill>
                  <a:srgbClr val="EC6453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Dozens of repetitive steps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692801" y="3296841"/>
            <a:ext cx="1755874" cy="761554"/>
          </a:xfrm>
          <a:prstGeom prst="rect">
            <a:avLst/>
          </a:prstGeom>
          <a:solidFill>
            <a:srgbClr val="FFFFFF">
              <a:alpha val="98000"/>
            </a:srgbClr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03827" y="3407866"/>
            <a:ext cx="15644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803827" y="3755380"/>
            <a:ext cx="1564499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Bef>
                <a:spcPts val="400"/>
              </a:spcBef>
              <a:buNone/>
            </a:pPr>
            <a:r>
              <a:rPr lang="en-US" sz="1350" dirty="0">
                <a:solidFill>
                  <a:srgbClr val="06C7BA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One key</a:t>
            </a:r>
            <a:endParaRPr lang="en-US" sz="1350" dirty="0"/>
          </a:p>
        </p:txBody>
      </p:sp>
      <p:pic>
        <p:nvPicPr>
          <p:cNvPr id="29" name="Image 0" descr="/Users/luruilr/Library/CloudStorage/OneDrive-Manulife/Obsidian/Main/0 - Inbox/ai-ops/aiops-visual-deck-manulife/assets/manu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95986"/>
            <a:ext cx="634901" cy="2460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453140" y="381000"/>
            <a:ext cx="160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400" y="673001"/>
            <a:ext cx="8238744" cy="329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AIOps grows through three connected capability tracks.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400" y="1129457"/>
            <a:ext cx="8077200" cy="466279"/>
          </a:xfrm>
          <a:prstGeom prst="rect">
            <a:avLst/>
          </a:prstGeom>
          <a:solidFill>
            <a:srgbClr val="FBFCFE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5325" y="1265932"/>
            <a:ext cx="7908417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Execution principle:</a:t>
            </a: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 lead with UC1 now; let UC2 and UC3 build on the same agent and service context foundation.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3400" y="1773436"/>
            <a:ext cx="2797969" cy="2793950"/>
          </a:xfrm>
          <a:prstGeom prst="rect">
            <a:avLst/>
          </a:prstGeom>
          <a:solidFill>
            <a:srgbClr val="F3FBFA"/>
          </a:solidFill>
          <a:ln w="9525">
            <a:solidFill>
              <a:srgbClr val="06C7B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5325" y="1935361"/>
            <a:ext cx="252360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06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TRACK · PHASE 1 FOCUS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95325" y="2116336"/>
            <a:ext cx="2523601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UC1 · Delivery &amp; Release Intelligence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5325" y="2619375"/>
            <a:ext cx="2523601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Most direct path to user-visible value.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5325" y="2925961"/>
            <a:ext cx="2474119" cy="1175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Pipeline AI L1 is already live.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L2 / L3 and miniops 2.0 are the most practical next steps.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This is the wedge that proves platform leverage in daily engineering work.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83769" y="1773436"/>
            <a:ext cx="2487216" cy="2793950"/>
          </a:xfrm>
          <a:prstGeom prst="rect">
            <a:avLst/>
          </a:prstGeom>
          <a:solidFill>
            <a:srgbClr val="F7F9FC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45694" y="1935361"/>
            <a:ext cx="22066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LAYER NEXT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45694" y="2116336"/>
            <a:ext cx="220663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UC2 · Monitor Recovery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45694" y="2405955"/>
            <a:ext cx="2206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Observe, diagnose, then automate safely.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45694" y="2712541"/>
            <a:ext cx="2163366" cy="985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Proactive monitoring signal intake.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RCA assistance and evidence chain.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Non-production auto-fix as the safe proving ground.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3384" y="1773436"/>
            <a:ext cx="2487216" cy="2793950"/>
          </a:xfrm>
          <a:prstGeom prst="rect">
            <a:avLst/>
          </a:prstGeom>
          <a:solidFill>
            <a:srgbClr val="F7F9FC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85309" y="1935361"/>
            <a:ext cx="22066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LAYER NEXT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85309" y="2116336"/>
            <a:ext cx="220663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4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UC3 · Cost Intelligence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85309" y="2405955"/>
            <a:ext cx="22066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Operational efficiency with financial visibility.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85309" y="2712541"/>
            <a:ext cx="2163366" cy="136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Cloud cost observability and tagging discipline.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Actionable recommendations, not passive reporting.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Daily agent pattern once the data quality foundation is ready.</a:t>
            </a:r>
            <a:endParaRPr lang="en-US" sz="1050" dirty="0"/>
          </a:p>
        </p:txBody>
      </p:sp>
      <p:pic>
        <p:nvPicPr>
          <p:cNvPr id="25" name="Image 0" descr="/Users/luruilr/Library/CloudStorage/OneDrive-Manulife/Obsidian/Main/0 - Inbox/ai-ops/aiops-visual-deck-manulife/assets/manu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95986"/>
            <a:ext cx="634901" cy="2460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75" y="186184"/>
            <a:ext cx="9144000" cy="514350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583561" cy="8885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83561" y="0"/>
            <a:ext cx="2560290" cy="88850"/>
          </a:xfrm>
          <a:prstGeom prst="rect">
            <a:avLst/>
          </a:prstGeom>
          <a:solidFill>
            <a:srgbClr val="06C7B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81000"/>
            <a:ext cx="24035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ON INVESTMENT · 1 OF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53140" y="381000"/>
            <a:ext cx="160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400" y="673001"/>
            <a:ext cx="8238744" cy="329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Pipeline AI cuts resolution time from hours to seconds.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7688" y="1180207"/>
            <a:ext cx="0" cy="1644402"/>
          </a:xfrm>
          <a:prstGeom prst="line">
            <a:avLst/>
          </a:prstGeom>
          <a:noFill/>
          <a:ln w="28575">
            <a:solidFill>
              <a:srgbClr val="E8E9E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739676" y="1180207"/>
            <a:ext cx="37794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8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MONTHLY BUILD / DEPLOY INCIDENTS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9676" y="1440507"/>
            <a:ext cx="3779481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50+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39676" y="1986558"/>
            <a:ext cx="37794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1000"/>
              </a:spcAft>
              <a:buNone/>
            </a:pPr>
            <a:r>
              <a:rPr lang="en-US" sz="8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avg per month today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9676" y="2399258"/>
            <a:ext cx="3705374" cy="228600"/>
          </a:xfrm>
          <a:prstGeom prst="roundRect">
            <a:avLst>
              <a:gd name="adj" fmla="val 111111"/>
            </a:avLst>
          </a:prstGeom>
          <a:solidFill>
            <a:srgbClr val="FFF3F2"/>
          </a:solidFill>
          <a:ln w="9525">
            <a:solidFill>
              <a:srgbClr val="EC645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3501" y="2446883"/>
            <a:ext cx="35268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C6453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↑ Growing with AliCloud migration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9676" y="2691259"/>
            <a:ext cx="37794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8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Manual capacity does not scale with volume increase.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13238" y="1180207"/>
            <a:ext cx="0" cy="1644402"/>
          </a:xfrm>
          <a:prstGeom prst="line">
            <a:avLst/>
          </a:prstGeom>
          <a:noFill/>
          <a:ln w="28575">
            <a:solidFill>
              <a:srgbClr val="E8E9E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4905226" y="1180207"/>
            <a:ext cx="37794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8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AVG RESOLUTION TIME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5226" y="1516707"/>
            <a:ext cx="1190772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8E90A2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1.7h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905226" y="2062758"/>
            <a:ext cx="10207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1000"/>
              </a:spcAft>
              <a:buNone/>
            </a:pPr>
            <a:r>
              <a:rPr lang="en-US" sz="8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now · fully manual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39991" y="1615373"/>
            <a:ext cx="28508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59157" y="1503282"/>
            <a:ext cx="1270453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dirty="0">
                <a:solidFill>
                  <a:srgbClr val="06C7BA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&lt;30s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649465" y="2062132"/>
            <a:ext cx="12704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AI target · 90% of cases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3400" y="2977009"/>
            <a:ext cx="8077200" cy="669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1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Every incident today is a blocking human investigation — engineers cannot ship until it is resolved.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AliCloud migration is actively increasing incident frequency; the trend will continue through H2.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Pipeline AI targets 90% auto-resolved in &lt;30 seconds — engineers see a diagnosis, not a war room.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3400" y="3798838"/>
            <a:ext cx="8077200" cy="35540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5800" y="3887688"/>
            <a:ext cx="792784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1.7 hours of human firefighting → 30 seconds of AI diagnosis. The team gets back to building.</a:t>
            </a:r>
            <a:endParaRPr lang="en-US" sz="1000" dirty="0"/>
          </a:p>
        </p:txBody>
      </p:sp>
      <p:pic>
        <p:nvPicPr>
          <p:cNvPr id="25" name="Image 0" descr="/Users/luruilr/Library/CloudStorage/OneDrive-Manulife/Obsidian/Main/0 - Inbox/ai-ops/aiops-visual-deck-manulife/assets/manu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95986"/>
            <a:ext cx="634901" cy="2460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453140" y="381000"/>
            <a:ext cx="160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400" y="673001"/>
            <a:ext cx="8238744" cy="329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FinOps AI turns one lucky find into systematic saving.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400" y="1180207"/>
            <a:ext cx="3730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ONE MANUAL REVIEW · Q1 2025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3400" y="1373832"/>
            <a:ext cx="3730752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dirty="0">
                <a:solidFill>
                  <a:srgbClr val="8E90A2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$100K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33400" y="2021532"/>
            <a:ext cx="3730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saved / year · DB downgrade · fully manual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3400" y="2224683"/>
            <a:ext cx="3657600" cy="203002"/>
          </a:xfrm>
          <a:prstGeom prst="roundRect">
            <a:avLst>
              <a:gd name="adj" fmla="val 125122"/>
            </a:avLst>
          </a:prstGeom>
          <a:solidFill>
            <a:srgbClr val="FFF3F2"/>
          </a:solidFill>
          <a:ln w="9525">
            <a:solidFill>
              <a:srgbClr val="EC645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4426" y="2259509"/>
            <a:ext cx="35042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EC6453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Single engineer · single resource type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191000" y="1565821"/>
            <a:ext cx="777240" cy="476250"/>
          </a:xfrm>
          <a:prstGeom prst="rect">
            <a:avLst/>
          </a:prstGeom>
          <a:noFill/>
          <a:ln/>
        </p:spPr>
        <p:txBody>
          <a:bodyPr wrap="square" lIns="203200" tIns="0" rIns="20320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53000" y="1180207"/>
            <a:ext cx="3730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AI FINOPS · BAU CADENCE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53000" y="1373832"/>
            <a:ext cx="3730752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dirty="0">
                <a:solidFill>
                  <a:srgbClr val="06C7BA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$??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953000" y="2021532"/>
            <a:ext cx="3730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optimisation potential · all resource types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53000" y="2224683"/>
            <a:ext cx="3657600" cy="203002"/>
          </a:xfrm>
          <a:prstGeom prst="roundRect">
            <a:avLst>
              <a:gd name="adj" fmla="val 125122"/>
            </a:avLst>
          </a:prstGeom>
          <a:solidFill>
            <a:srgbClr val="F0FDFB"/>
          </a:solidFill>
          <a:ln w="9525">
            <a:solidFill>
              <a:srgbClr val="06C7B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64026" y="2259509"/>
            <a:ext cx="35042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06C7BA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Continuous · systematic · zero extra headcount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33400" y="2529185"/>
            <a:ext cx="733276" cy="183952"/>
          </a:xfrm>
          <a:prstGeom prst="roundRect">
            <a:avLst>
              <a:gd name="adj" fmla="val 138080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7700" y="2545259"/>
            <a:ext cx="618976" cy="142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82B3E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DB (done ✓)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30077" y="2529185"/>
            <a:ext cx="540132" cy="199877"/>
          </a:xfrm>
          <a:prstGeom prst="roundRect">
            <a:avLst>
              <a:gd name="adj" fmla="val 138080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444376" y="2571750"/>
            <a:ext cx="338687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82B3E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Redis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26290" y="2545227"/>
            <a:ext cx="464790" cy="183952"/>
          </a:xfrm>
          <a:prstGeom prst="roundRect">
            <a:avLst>
              <a:gd name="adj" fmla="val 138080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040590" y="2570528"/>
            <a:ext cx="350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82B3E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Kafka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414376" y="2529185"/>
            <a:ext cx="1122015" cy="183952"/>
          </a:xfrm>
          <a:prstGeom prst="roundRect">
            <a:avLst>
              <a:gd name="adj" fmla="val 138080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465275" y="2579340"/>
            <a:ext cx="1007715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82B3E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Deployment requests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67006" y="2543754"/>
            <a:ext cx="1157139" cy="183952"/>
          </a:xfrm>
          <a:prstGeom prst="roundRect">
            <a:avLst>
              <a:gd name="adj" fmla="val 138080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18607" y="2567520"/>
            <a:ext cx="1156437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82B3E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Other cloud resources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72205" y="2537206"/>
            <a:ext cx="1037332" cy="183952"/>
          </a:xfrm>
          <a:prstGeom prst="roundRect">
            <a:avLst>
              <a:gd name="adj" fmla="val 138080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86505" y="2562507"/>
            <a:ext cx="923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82B3E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… untouched today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3400" y="2840087"/>
            <a:ext cx="8077200" cy="669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1"/>
              </a:lnSpc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The Q1 DB downgrade</a:t>
            </a: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 proved the concept — but it took a dedicated human investigation and covered only one resource type.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Redis, Kafka, deployment requests, and a long tail of cloud resources have never been reviewed for right-sizing.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An AI FinOps agent running at BAU cadence surfaces waste across all layers, continuously — no extra headcount required.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3400" y="3661916"/>
            <a:ext cx="8077200" cy="35540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85800" y="3750766"/>
            <a:ext cx="792784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$100K was what one person found in one place. $1M+ is what AI finds everywhere, every sprint.</a:t>
            </a:r>
            <a:endParaRPr lang="en-US" sz="1000" dirty="0"/>
          </a:p>
        </p:txBody>
      </p:sp>
      <p:pic>
        <p:nvPicPr>
          <p:cNvPr id="34" name="Image 0" descr="/Users/luruilr/Library/CloudStorage/OneDrive-Manulife/Obsidian/Main/0 - Inbox/ai-ops/aiops-visual-deck-manulife/assets/manu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95986"/>
            <a:ext cx="634901" cy="2460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583561" cy="8885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83561" y="0"/>
            <a:ext cx="2560290" cy="88850"/>
          </a:xfrm>
          <a:prstGeom prst="rect">
            <a:avLst/>
          </a:prstGeom>
          <a:solidFill>
            <a:srgbClr val="06C7B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81000"/>
            <a:ext cx="1740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 &amp; 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53140" y="381000"/>
            <a:ext cx="160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400" y="698450"/>
            <a:ext cx="433630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06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NON-NEGOTIABLE DESIGN RULE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33400" y="904726"/>
            <a:ext cx="4336301" cy="659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6"/>
              </a:lnSpc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AI can recommend. Only humans can execute production change.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3400" y="1690688"/>
            <a:ext cx="4336301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Built for governed adoption, not blind automation.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3400" y="2053084"/>
            <a:ext cx="4251275" cy="60260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33400" y="2057846"/>
            <a:ext cx="425127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4779913" y="2053084"/>
            <a:ext cx="0" cy="602605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533400" y="2650927"/>
            <a:ext cx="425127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557213" y="2053084"/>
            <a:ext cx="0" cy="602605"/>
          </a:xfrm>
          <a:prstGeom prst="line">
            <a:avLst/>
          </a:prstGeom>
          <a:noFill/>
          <a:ln w="47625">
            <a:solidFill>
              <a:srgbClr val="06C7B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720626" y="2176909"/>
            <a:ext cx="4006126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06C7BA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Evidence</a:t>
            </a:r>
            <a:r>
              <a:rPr lang="en-US" sz="10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 before action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0626" y="2386310"/>
            <a:ext cx="4006126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Bef>
                <a:spcPts val="400"/>
              </a:spcBef>
              <a:buNone/>
            </a:pPr>
            <a:r>
              <a:rPr lang="en-US" sz="8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Every AI decision must be backed by observable data and a traceable evidence chain.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3400" y="2757190"/>
            <a:ext cx="4251275" cy="60260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3400" y="2761952"/>
            <a:ext cx="425127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4779913" y="2757190"/>
            <a:ext cx="0" cy="602605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533400" y="3355032"/>
            <a:ext cx="425127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557213" y="2757190"/>
            <a:ext cx="0" cy="602605"/>
          </a:xfrm>
          <a:prstGeom prst="line">
            <a:avLst/>
          </a:prstGeom>
          <a:noFill/>
          <a:ln w="47625">
            <a:solidFill>
              <a:srgbClr val="06C7B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720626" y="2881015"/>
            <a:ext cx="4006126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06C7BA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Human approval</a:t>
            </a:r>
            <a:r>
              <a:rPr lang="en-US" sz="10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 for production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0626" y="3090416"/>
            <a:ext cx="4006126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Bef>
                <a:spcPts val="400"/>
              </a:spcBef>
              <a:buNone/>
            </a:pPr>
            <a:r>
              <a:rPr lang="en-US" sz="8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Production actions stay behind mandatory approval gates aligned with ITIL process.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3400" y="3461296"/>
            <a:ext cx="4251275" cy="60260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33400" y="3466058"/>
            <a:ext cx="425127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Shape 24"/>
          <p:cNvSpPr/>
          <p:nvPr/>
        </p:nvSpPr>
        <p:spPr>
          <a:xfrm>
            <a:off x="4779913" y="3461296"/>
            <a:ext cx="0" cy="602605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Shape 25"/>
          <p:cNvSpPr/>
          <p:nvPr/>
        </p:nvSpPr>
        <p:spPr>
          <a:xfrm>
            <a:off x="533400" y="4059138"/>
            <a:ext cx="425127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Shape 26"/>
          <p:cNvSpPr/>
          <p:nvPr/>
        </p:nvSpPr>
        <p:spPr>
          <a:xfrm>
            <a:off x="557213" y="3461296"/>
            <a:ext cx="0" cy="602605"/>
          </a:xfrm>
          <a:prstGeom prst="line">
            <a:avLst/>
          </a:prstGeom>
          <a:noFill/>
          <a:ln w="47625">
            <a:solidFill>
              <a:srgbClr val="06C7B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720626" y="3585121"/>
            <a:ext cx="4006126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06C7BA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Minimum permissions</a:t>
            </a:r>
            <a:r>
              <a:rPr lang="en-US" sz="10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 by design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0626" y="3794522"/>
            <a:ext cx="4006126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Bef>
                <a:spcPts val="400"/>
              </a:spcBef>
              <a:buNone/>
            </a:pPr>
            <a:r>
              <a:rPr lang="en-US" sz="8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Each agent receives only the access needed for the task it is assigned.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13275" y="698450"/>
            <a:ext cx="3597325" cy="2717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0" descr="/Users/luruilr/Library/CloudStorage/OneDrive-Manulife/Obsidian/Main/0 - Inbox/ai-ops/aiops-visual-deck-manulife/assets/gover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800" y="707975"/>
            <a:ext cx="3578275" cy="26987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295400" y="4063901"/>
            <a:ext cx="29958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Governance is part of the product, not a post-hoc control layer.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7894886" y="4063901"/>
            <a:ext cx="7300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See Appendix C</a:t>
            </a:r>
            <a:endParaRPr lang="en-US" sz="700" dirty="0"/>
          </a:p>
        </p:txBody>
      </p:sp>
      <p:pic>
        <p:nvPicPr>
          <p:cNvPr id="35" name="Image 1" descr="/Users/luruilr/Library/CloudStorage/OneDrive-Manulife/Obsidian/Main/0 - Inbox/ai-ops/aiops-visual-deck-manulife/assets/manulife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795986"/>
            <a:ext cx="634901" cy="2460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583561" cy="8885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83561" y="0"/>
            <a:ext cx="2560290" cy="88850"/>
          </a:xfrm>
          <a:prstGeom prst="rect">
            <a:avLst/>
          </a:prstGeom>
          <a:solidFill>
            <a:srgbClr val="06C7B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81000"/>
            <a:ext cx="5801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53140" y="381000"/>
            <a:ext cx="160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400" y="673001"/>
            <a:ext cx="8238744" cy="329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Deliver in phases. Do not industrialize everything at once.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400" y="1104007"/>
            <a:ext cx="673602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Foundation first. First deliveries next. Deeper capability after the substrate is real.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8950" y="1604218"/>
            <a:ext cx="7366099" cy="25301"/>
          </a:xfrm>
          <a:prstGeom prst="rect">
            <a:avLst/>
          </a:prstGeom>
          <a:solidFill>
            <a:srgbClr val="002060">
              <a:alpha val="2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31466" y="152801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02060"/>
          </a:solidFill>
          <a:ln w="381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1832670"/>
            <a:ext cx="2573834" cy="1879550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6867" y="1969145"/>
            <a:ext cx="23469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6867" y="2159645"/>
            <a:ext cx="234690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9875" y="2484537"/>
            <a:ext cx="2300883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Jenkins Agent standardization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Service Catalog MVP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miniops 2.0 MVP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83001" y="152801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6C7BA"/>
          </a:solidFill>
          <a:ln w="381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84934" y="1832670"/>
            <a:ext cx="2573982" cy="1879550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98399" y="1969145"/>
            <a:ext cx="23470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98399" y="2159645"/>
            <a:ext cx="234705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First deliveries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1410" y="2484537"/>
            <a:ext cx="2301032" cy="985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Pipeline AI L2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AIOps Dashboard v1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Documentation reorganization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UC3 cost observability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34684" y="152801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6C7BA"/>
          </a:solidFill>
          <a:ln w="381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36618" y="1832670"/>
            <a:ext cx="2573834" cy="1879550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50084" y="1969145"/>
            <a:ext cx="23469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50084" y="2159645"/>
            <a:ext cx="2346900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spcBef>
                <a:spcPts val="600"/>
              </a:spcBef>
              <a:buNone/>
            </a:pPr>
            <a:r>
              <a:rPr lang="en-US" sz="13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Deeper capability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3093" y="2484537"/>
            <a:ext cx="2300883" cy="985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UC2 monitoring RCA MVP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Pipeline AI L3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Non-production auto-fix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UC3 daily agent pattern</a:t>
            </a:r>
            <a:endParaRPr lang="en-US" sz="1050" dirty="0"/>
          </a:p>
        </p:txBody>
      </p:sp>
      <p:pic>
        <p:nvPicPr>
          <p:cNvPr id="25" name="Image 0" descr="/Users/luruilr/Library/CloudStorage/OneDrive-Manulife/Obsidian/Main/0 - Inbox/ai-ops/aiops-visual-deck-manulife/assets/manu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95986"/>
            <a:ext cx="634901" cy="2460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583561" cy="8885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83561" y="0"/>
            <a:ext cx="2560290" cy="88850"/>
          </a:xfrm>
          <a:prstGeom prst="rect">
            <a:avLst/>
          </a:prstGeom>
          <a:solidFill>
            <a:srgbClr val="06C7B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81000"/>
            <a:ext cx="9946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ASK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53140" y="381000"/>
            <a:ext cx="160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400" y="673001"/>
            <a:ext cx="8238744" cy="329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To deliver in phases, we need staged resourcing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400" y="1104007"/>
            <a:ext cx="673602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A specific phased ask, not an open-ended platform budget.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3400" y="1553468"/>
            <a:ext cx="3936950" cy="2717750"/>
          </a:xfrm>
          <a:prstGeom prst="rect">
            <a:avLst/>
          </a:prstGeom>
          <a:solidFill>
            <a:srgbClr val="F3FBFA"/>
          </a:solidFill>
          <a:ln w="9525">
            <a:solidFill>
              <a:srgbClr val="06C7B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5325" y="1715393"/>
            <a:ext cx="36853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06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ASK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95325" y="1896368"/>
            <a:ext cx="36853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Bef>
                <a:spcPts val="600"/>
              </a:spcBef>
              <a:buNone/>
            </a:pPr>
            <a:r>
              <a:rPr lang="en-US" sz="30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3.5 FTE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95325" y="2404318"/>
            <a:ext cx="368536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15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Build the foundation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5325" y="2813893"/>
            <a:ext cx="3613100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Service Catalog MVP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miniops 2.0 MVP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Jenkins Agent standardization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5325" y="3915966"/>
            <a:ext cx="368536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Critical path for the rest of the platform.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73501" y="1553468"/>
            <a:ext cx="3937099" cy="2717750"/>
          </a:xfrm>
          <a:prstGeom prst="rect">
            <a:avLst/>
          </a:prstGeom>
          <a:solidFill>
            <a:srgbClr val="F7F9FC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35426" y="1715393"/>
            <a:ext cx="36855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ASK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835426" y="1896368"/>
            <a:ext cx="36855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Bef>
                <a:spcPts val="600"/>
              </a:spcBef>
              <a:buNone/>
            </a:pPr>
            <a:r>
              <a:rPr lang="en-US" sz="3000" dirty="0">
                <a:solidFill>
                  <a:srgbClr val="06C7BA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2.5 FTE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35426" y="2404318"/>
            <a:ext cx="36855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15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Extend into first deliveries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35426" y="2813893"/>
            <a:ext cx="3613249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Pipeline AI L2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AIOps Dashboard v1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Documentation reorganization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35426" y="3915966"/>
            <a:ext cx="368551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Appendix A contains the role-level split behind these numbers.</a:t>
            </a:r>
            <a:endParaRPr lang="en-US" sz="1050" dirty="0"/>
          </a:p>
        </p:txBody>
      </p:sp>
      <p:pic>
        <p:nvPicPr>
          <p:cNvPr id="21" name="Image 0" descr="/Users/luruilr/Library/CloudStorage/OneDrive-Manulife/Obsidian/Main/0 - Inbox/ai-ops/aiops-visual-deck-manulife/assets/manu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95986"/>
            <a:ext cx="634901" cy="2460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583561" cy="8885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83561" y="0"/>
            <a:ext cx="2560290" cy="88850"/>
          </a:xfrm>
          <a:prstGeom prst="rect">
            <a:avLst/>
          </a:prstGeom>
          <a:solidFill>
            <a:srgbClr val="06C7B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81000"/>
            <a:ext cx="10775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PAGE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53140" y="381000"/>
            <a:ext cx="160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400" y="673001"/>
            <a:ext cx="8238744" cy="329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Today we ask for two decisions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400" y="1104007"/>
            <a:ext cx="6476899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End on sponsorship and execution priority — not on summary.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3400" y="1553468"/>
            <a:ext cx="3936950" cy="2819400"/>
          </a:xfrm>
          <a:prstGeom prst="rect">
            <a:avLst/>
          </a:prstGeom>
          <a:solidFill>
            <a:srgbClr val="F3FBFA"/>
          </a:solidFill>
          <a:ln w="9525">
            <a:solidFill>
              <a:srgbClr val="06C7B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5325" y="1715393"/>
            <a:ext cx="36853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06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01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95325" y="1921669"/>
            <a:ext cx="368536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800"/>
              </a:spcBef>
              <a:buNone/>
            </a:pPr>
            <a:r>
              <a:rPr lang="en-US" sz="16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Approve AIOps as a formal internal program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5325" y="2586930"/>
            <a:ext cx="3613100" cy="909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Move beyond informal team-led momentum.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Establish explicit sponsor and steering support.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Give the direction governance visibility and operating legitimacy.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73501" y="1553468"/>
            <a:ext cx="3937099" cy="2819400"/>
          </a:xfrm>
          <a:prstGeom prst="rect">
            <a:avLst/>
          </a:prstGeom>
          <a:solidFill>
            <a:srgbClr val="F7F9FC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35426" y="1715393"/>
            <a:ext cx="36855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02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35426" y="1921669"/>
            <a:ext cx="368551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800"/>
              </a:spcBef>
              <a:buNone/>
            </a:pPr>
            <a:r>
              <a:rPr lang="en-US" sz="16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Confirm Q2 / Q3 priority and headcount commitment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35426" y="2586930"/>
            <a:ext cx="3613249" cy="909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Q2 first: the foundation layer.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Q3 next: L2, dashboard, and documentation uplift.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Resource the validated path instead of spreading effort across all ambitions at once.</a:t>
            </a:r>
            <a:endParaRPr lang="en-US" sz="1050" dirty="0"/>
          </a:p>
        </p:txBody>
      </p:sp>
      <p:pic>
        <p:nvPicPr>
          <p:cNvPr id="17" name="Image 0" descr="/Users/luruilr/Library/CloudStorage/OneDrive-Manulife/Obsidian/Main/0 - Inbox/ai-ops/aiops-visual-deck-manulife/assets/manu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95986"/>
            <a:ext cx="634901" cy="2460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583561" cy="8885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83561" y="0"/>
            <a:ext cx="2560290" cy="88850"/>
          </a:xfrm>
          <a:prstGeom prst="rect">
            <a:avLst/>
          </a:prstGeom>
          <a:solidFill>
            <a:srgbClr val="06C7B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81000"/>
            <a:ext cx="24035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A · HEADCOUNT DETAIL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53140" y="381000"/>
            <a:ext cx="160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400" y="673001"/>
            <a:ext cx="8238744" cy="329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Role-level breakdown behind the phased ask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400" y="1231106"/>
            <a:ext cx="3936950" cy="3167955"/>
          </a:xfrm>
          <a:prstGeom prst="rect">
            <a:avLst/>
          </a:prstGeom>
          <a:solidFill>
            <a:srgbClr val="F3FBFA"/>
          </a:solidFill>
          <a:ln w="9525">
            <a:solidFill>
              <a:srgbClr val="06C7B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5325" y="1393031"/>
            <a:ext cx="36853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06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· 3.5 FTE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95325" y="1624757"/>
            <a:ext cx="3613100" cy="725239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1800" y="1761232"/>
            <a:ext cx="340695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R1 · Service Catalog MVP data onboarding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1800" y="2020193"/>
            <a:ext cx="3406953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0.5 FTE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5325" y="2476946"/>
            <a:ext cx="3613100" cy="725239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1800" y="2613422"/>
            <a:ext cx="340695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R2 · Full Stack Developers for miniops 2.0 MVP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1800" y="2872383"/>
            <a:ext cx="3406953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2.0 FTE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5325" y="3329136"/>
            <a:ext cx="3613100" cy="9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31800" y="3465612"/>
            <a:ext cx="3406953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R3 · DevOps engineer for Jenkins Agent standardization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1800" y="3907334"/>
            <a:ext cx="3406953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1.0 FTE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73501" y="1231106"/>
            <a:ext cx="3937099" cy="3167955"/>
          </a:xfrm>
          <a:prstGeom prst="rect">
            <a:avLst/>
          </a:prstGeom>
          <a:solidFill>
            <a:srgbClr val="F7F9FC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35426" y="1393031"/>
            <a:ext cx="36855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· 2.5 FTE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835426" y="1624757"/>
            <a:ext cx="3613249" cy="725239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71901" y="1761232"/>
            <a:ext cx="340710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R4 · Documentation reorganization lead / TL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71901" y="2020193"/>
            <a:ext cx="340710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1.0 FTE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35426" y="2476946"/>
            <a:ext cx="3613249" cy="725239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71901" y="2613422"/>
            <a:ext cx="340710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R5 · DevOps engineer for Pipeline AI L2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71901" y="2872383"/>
            <a:ext cx="340710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0.5 FTE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35426" y="3329136"/>
            <a:ext cx="3613249" cy="725239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71901" y="3465612"/>
            <a:ext cx="340710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R6 · Full Stack Developer for AIOps Dashboard v1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71901" y="3724573"/>
            <a:ext cx="340710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1.0 FTE</a:t>
            </a:r>
            <a:endParaRPr lang="en-US" sz="1050" dirty="0"/>
          </a:p>
        </p:txBody>
      </p:sp>
      <p:pic>
        <p:nvPicPr>
          <p:cNvPr id="30" name="Image 0" descr="/Users/luruilr/Library/CloudStorage/OneDrive-Manulife/Obsidian/Main/0 - Inbox/ai-ops/aiops-visual-deck-manulife/assets/manu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95986"/>
            <a:ext cx="634901" cy="2460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583561" cy="8885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83561" y="0"/>
            <a:ext cx="2560290" cy="88850"/>
          </a:xfrm>
          <a:prstGeom prst="rect">
            <a:avLst/>
          </a:prstGeom>
          <a:solidFill>
            <a:srgbClr val="06C7B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81000"/>
            <a:ext cx="25692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B · RISKS &amp; MITIGATION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53140" y="381000"/>
            <a:ext cx="160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400" y="673001"/>
            <a:ext cx="8238744" cy="659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Key risks are known — and already bounded by practical mitigation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400" y="1560612"/>
            <a:ext cx="3962400" cy="1549301"/>
          </a:xfrm>
          <a:prstGeom prst="rect">
            <a:avLst/>
          </a:prstGeom>
          <a:solidFill>
            <a:srgbClr val="F7F9FC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5325" y="1722537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01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95325" y="1903512"/>
            <a:ext cx="37113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15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Copilot Studio RAG remains a black box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95325" y="2211437"/>
            <a:ext cx="371132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Bef>
                <a:spcPts val="1000"/>
              </a:spcBef>
              <a:buNone/>
            </a:pPr>
            <a:r>
              <a:rPr lang="en-US" sz="10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Start with documentation reorganization now; keep a self-hosted RAG fallback if the black-box limit becomes material.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48200" y="1560612"/>
            <a:ext cx="3962400" cy="1549301"/>
          </a:xfrm>
          <a:prstGeom prst="rect">
            <a:avLst/>
          </a:prstGeom>
          <a:solidFill>
            <a:srgbClr val="F7F9FC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0125" y="1722537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02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810125" y="1903512"/>
            <a:ext cx="37113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15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No CMDB / Service Catalog baseline today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10125" y="2211437"/>
            <a:ext cx="371132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Bef>
                <a:spcPts val="1000"/>
              </a:spcBef>
              <a:buNone/>
            </a:pPr>
            <a:r>
              <a:rPr lang="en-US" sz="10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Make Service Catalog MVP part of phase 1 instead of treating it as a dependency someone else must solve first.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3400" y="3262313"/>
            <a:ext cx="3962400" cy="1549301"/>
          </a:xfrm>
          <a:prstGeom prst="rect">
            <a:avLst/>
          </a:prstGeom>
          <a:solidFill>
            <a:srgbClr val="F7F9FC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5325" y="3424238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03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95325" y="3605213"/>
            <a:ext cx="37113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15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LLM variability may produce unsafe repair suggestions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5325" y="3913138"/>
            <a:ext cx="371132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Bef>
                <a:spcPts val="1000"/>
              </a:spcBef>
              <a:buNone/>
            </a:pPr>
            <a:r>
              <a:rPr lang="en-US" sz="10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Use evidence chains, confidence thresholds, and mandatory human-in-the-loop approval for production actions.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48200" y="3262313"/>
            <a:ext cx="3962400" cy="1549301"/>
          </a:xfrm>
          <a:prstGeom prst="rect">
            <a:avLst/>
          </a:prstGeom>
          <a:solidFill>
            <a:srgbClr val="F7F9FC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0125" y="3424238"/>
            <a:ext cx="3711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04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810125" y="3605213"/>
            <a:ext cx="371132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15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Cloud billing tags are not aligned enough for deeper UC3 work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10125" y="4094113"/>
            <a:ext cx="371132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Bef>
                <a:spcPts val="1000"/>
              </a:spcBef>
              <a:buNone/>
            </a:pPr>
            <a:r>
              <a:rPr lang="en-US" sz="1050" dirty="0">
                <a:solidFill>
                  <a:srgbClr val="6E7485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Run tag validation and data-quality cleanup before moving into UC3 phase 2 automation.</a:t>
            </a:r>
            <a:endParaRPr lang="en-US" sz="1050" dirty="0"/>
          </a:p>
        </p:txBody>
      </p:sp>
      <p:pic>
        <p:nvPicPr>
          <p:cNvPr id="24" name="Image 0" descr="/Users/luruilr/Library/CloudStorage/OneDrive-Manulife/Obsidian/Main/0 - Inbox/ai-ops/aiops-visual-deck-manulife/assets/manu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95986"/>
            <a:ext cx="634901" cy="2460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583561" cy="8885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83561" y="0"/>
            <a:ext cx="2560290" cy="88850"/>
          </a:xfrm>
          <a:prstGeom prst="rect">
            <a:avLst/>
          </a:prstGeom>
          <a:solidFill>
            <a:srgbClr val="06C7B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81000"/>
            <a:ext cx="38953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C · ARCHITECTURE &amp; SECURITY GOVERNANCE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53140" y="381000"/>
            <a:ext cx="160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400" y="673001"/>
            <a:ext cx="8238744" cy="329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Detailed architecture and governance design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400" y="1078706"/>
            <a:ext cx="5184130" cy="3716089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/Users/luruilr/Library/CloudStorage/OneDrive-Manulife/Obsidian/Main/0 - Inbox/ai-ops/aiops-visual-deck-manulife/assets/aiops-architecture.excalid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088231"/>
            <a:ext cx="5165080" cy="369703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19031" y="1078706"/>
            <a:ext cx="2791569" cy="1869281"/>
          </a:xfrm>
          <a:prstGeom prst="rect">
            <a:avLst/>
          </a:prstGeom>
          <a:solidFill>
            <a:srgbClr val="F3FBFA"/>
          </a:solidFill>
          <a:ln w="9525">
            <a:solidFill>
              <a:srgbClr val="06C7B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980956" y="1240631"/>
            <a:ext cx="25170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06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THIS APPENDIX CLARIFIES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980956" y="1421606"/>
            <a:ext cx="2467719" cy="128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Shared agent layer and orchestration structure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Human gate placement for production-sensitive actions</a:t>
            </a:r>
            <a:endParaRPr lang="en-US" sz="1050" dirty="0"/>
          </a:p>
          <a:p>
            <a:pPr marL="342900" indent="-342900" algn="l">
              <a:lnSpc>
                <a:spcPts val="1491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82B3E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Governance controls built into the operating flow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19031" y="3011388"/>
            <a:ext cx="2791569" cy="816322"/>
          </a:xfrm>
          <a:prstGeom prst="rect">
            <a:avLst/>
          </a:prstGeom>
          <a:solidFill>
            <a:srgbClr val="F7F9FC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980956" y="3173313"/>
            <a:ext cx="2517074" cy="131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900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Detailed blueprint document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80956" y="3380929"/>
            <a:ext cx="2517074" cy="284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48"/>
              </a:lnSpc>
              <a:spcBef>
                <a:spcPts val="600"/>
              </a:spcBef>
              <a:buNone/>
            </a:pPr>
            <a:r>
              <a:rPr lang="en-US" sz="650" dirty="0">
                <a:solidFill>
                  <a:srgbClr val="002060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https://manulife-asia.atlassian.net/wiki/spaces/HKDO/pages/1648525895/AIOps+blueprints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295400" y="3313807"/>
            <a:ext cx="22371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Detailed architecture and governance appendix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8093422" y="3313807"/>
            <a:ext cx="5275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Appendix C</a:t>
            </a:r>
            <a:endParaRPr lang="en-US" sz="700" dirty="0"/>
          </a:p>
        </p:txBody>
      </p:sp>
      <p:pic>
        <p:nvPicPr>
          <p:cNvPr id="18" name="Image 1" descr="/Users/luruilr/Library/CloudStorage/OneDrive-Manulife/Obsidian/Main/0 - Inbox/ai-ops/aiops-visual-deck-manulife/assets/manulife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795986"/>
            <a:ext cx="634901" cy="2460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583561" cy="8885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83561" y="0"/>
            <a:ext cx="2560290" cy="88850"/>
          </a:xfrm>
          <a:prstGeom prst="rect">
            <a:avLst/>
          </a:prstGeom>
          <a:solidFill>
            <a:srgbClr val="06C7B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81000"/>
            <a:ext cx="5801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53140" y="381000"/>
            <a:ext cx="160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E90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400" y="1321147"/>
            <a:ext cx="45597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06C7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APPROVAL ENABLES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33400" y="1578322"/>
            <a:ext cx="4559757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36"/>
              </a:lnSpc>
              <a:buNone/>
            </a:pPr>
            <a:r>
              <a:rPr lang="en-US" sz="2800" b="1" dirty="0">
                <a:solidFill>
                  <a:srgbClr val="002060"/>
                </a:solidFill>
                <a:latin typeface="Manulife JH Sans Bold" pitchFamily="34" charset="0"/>
                <a:ea typeface="Manulife JH Sans Bold" pitchFamily="34" charset="-122"/>
                <a:cs typeface="Manulife JH Sans Bold" pitchFamily="34" charset="-120"/>
              </a:rPr>
              <a:t>Approve the platform. Focus the execution.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3400" y="2526953"/>
            <a:ext cx="4559757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The direction already exists in working form. Formal approval makes it governable, resource-backed, and scalable.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3400" y="3121075"/>
            <a:ext cx="4038600" cy="891480"/>
          </a:xfrm>
          <a:prstGeom prst="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5325" y="3283000"/>
            <a:ext cx="378904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BF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IMMEDIATE OUTCOME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95325" y="3463975"/>
            <a:ext cx="378904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Formal project status, Q2 foundation staffing, and a clear path into Q3 delivery.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95400" y="4660702"/>
            <a:ext cx="18120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AIOps platform proposal · Manulife HK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266063" y="4660702"/>
            <a:ext cx="3514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E90A2"/>
                </a:solidFill>
                <a:latin typeface="Manulife JH Sans" pitchFamily="34" charset="0"/>
                <a:ea typeface="Manulife JH Sans" pitchFamily="34" charset="-122"/>
                <a:cs typeface="Manulife JH Sans" pitchFamily="34" charset="-120"/>
              </a:rPr>
              <a:t>Closing</a:t>
            </a:r>
            <a:endParaRPr lang="en-US" sz="700" dirty="0"/>
          </a:p>
        </p:txBody>
      </p:sp>
      <p:pic>
        <p:nvPicPr>
          <p:cNvPr id="15" name="Image 0" descr="/Users/luruilr/Library/CloudStorage/OneDrive-Manulife/Obsidian/Main/0 - Inbox/ai-ops/aiops-visual-deck-manulife/assets/manulif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95986"/>
            <a:ext cx="634901" cy="2460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2022</Words>
  <Application>Microsoft Macintosh PowerPoint</Application>
  <PresentationFormat>On-screen Show (16:9)</PresentationFormat>
  <Paragraphs>261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Consolas</vt:lpstr>
      <vt:lpstr>Manulife JH Sans</vt:lpstr>
      <vt:lpstr>Manulife JH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Manulife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AIOps Platform Proposal</dc:title>
  <dc:subject>Manulife HK DevOps &amp; Platform executive proposal</dc:subject>
  <dc:creator>Hermes Agent / GPT-5.4</dc:creator>
  <cp:lastModifiedBy>Vin Lu （卢瑞）</cp:lastModifiedBy>
  <cp:revision>1</cp:revision>
  <dcterms:created xsi:type="dcterms:W3CDTF">2026-05-07T03:32:14Z</dcterms:created>
  <dcterms:modified xsi:type="dcterms:W3CDTF">2026-05-11T03:44:16Z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a27cab5-59e6-424d-abbb-227cd06504a3_Enabled">
    <vt:lpwstr>true</vt:lpwstr>
  </property>
  <property fmtid="{D5CDD505-2E9C-101B-9397-08002B2CF9AE}" pid="3" name="MSIP_Label_5a27cab5-59e6-424d-abbb-227cd06504a3_SetDate">
    <vt:lpwstr>2026-05-07T06:07:23Z</vt:lpwstr>
  </property>
  <property fmtid="{D5CDD505-2E9C-101B-9397-08002B2CF9AE}" pid="4" name="MSIP_Label_5a27cab5-59e6-424d-abbb-227cd06504a3_Method">
    <vt:lpwstr>Privileged</vt:lpwstr>
  </property>
  <property fmtid="{D5CDD505-2E9C-101B-9397-08002B2CF9AE}" pid="5" name="MSIP_Label_5a27cab5-59e6-424d-abbb-227cd06504a3_Name">
    <vt:lpwstr>INTERNAL v2</vt:lpwstr>
  </property>
  <property fmtid="{D5CDD505-2E9C-101B-9397-08002B2CF9AE}" pid="6" name="MSIP_Label_5a27cab5-59e6-424d-abbb-227cd06504a3_SiteId">
    <vt:lpwstr>5d3e2773-e07f-4432-a630-1a0f68a28a05</vt:lpwstr>
  </property>
  <property fmtid="{D5CDD505-2E9C-101B-9397-08002B2CF9AE}" pid="7" name="MSIP_Label_5a27cab5-59e6-424d-abbb-227cd06504a3_ActionId">
    <vt:lpwstr>86aed5a3-b157-4629-bed1-85071bf5177d</vt:lpwstr>
  </property>
  <property fmtid="{D5CDD505-2E9C-101B-9397-08002B2CF9AE}" pid="8" name="MSIP_Label_5a27cab5-59e6-424d-abbb-227cd06504a3_ContentBits">
    <vt:lpwstr>2</vt:lpwstr>
  </property>
  <property fmtid="{D5CDD505-2E9C-101B-9397-08002B2CF9AE}" pid="9" name="MSIP_Label_5a27cab5-59e6-424d-abbb-227cd06504a3_Tag">
    <vt:lpwstr>50, 0, 1, 1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INTERNAL</vt:lpwstr>
  </property>
</Properties>
</file>